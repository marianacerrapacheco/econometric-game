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90" r:id="rId3"/>
    <p:sldId id="291" r:id="rId4"/>
    <p:sldId id="258" r:id="rId5"/>
    <p:sldId id="293" r:id="rId6"/>
    <p:sldId id="259" r:id="rId7"/>
    <p:sldId id="294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144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27B9B-4D01-B049-9022-A9E78DEC29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E07C8-007D-9244-AABD-AEE3EEEE2C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35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282207dee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282207dee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en-GB" sz="1200" dirty="0">
                <a:solidFill>
                  <a:srgbClr val="595959"/>
                </a:solidFill>
              </a:rPr>
              <a:t>Build three machine learning models to estimate the burden using both new features and those that are previously considered using in the Hotspot analysis.</a:t>
            </a:r>
            <a:endParaRPr sz="1200" dirty="0">
              <a:solidFill>
                <a:srgbClr val="595959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en-GB" sz="1200" dirty="0">
                <a:solidFill>
                  <a:srgbClr val="595959"/>
                </a:solidFill>
              </a:rPr>
              <a:t>Compare the efficacy of the machine learning models to predict the severity of acute malnutrition and assess the model performance compared to the current Hotspot approach used by WFP. </a:t>
            </a:r>
            <a:endParaRPr sz="1200" dirty="0">
              <a:solidFill>
                <a:srgbClr val="595959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1200"/>
              <a:buChar char="●"/>
            </a:pPr>
            <a:r>
              <a:rPr lang="en-GB" sz="1200" dirty="0">
                <a:solidFill>
                  <a:srgbClr val="595959"/>
                </a:solidFill>
              </a:rPr>
              <a:t>Perform analysis to identify the most important features that influence the predictions for each machine learning model and their commonalities across machine learning models.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1200"/>
              <a:buChar char="●"/>
            </a:pPr>
            <a:endParaRPr lang="en-GB" sz="12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075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282207dee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282207dee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en-GB" sz="1200">
                <a:solidFill>
                  <a:srgbClr val="595959"/>
                </a:solidFill>
              </a:rPr>
              <a:t>Build three machine learning models to estimate the burden using both new features and those that are previously considered using in the Hotspot analysis.</a:t>
            </a:r>
            <a:endParaRPr sz="1200">
              <a:solidFill>
                <a:srgbClr val="595959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en-GB" sz="1200">
                <a:solidFill>
                  <a:srgbClr val="595959"/>
                </a:solidFill>
              </a:rPr>
              <a:t>Compare the efficacy of the machine learning models to predict the severity of acute malnutrition and assess the model performance compared to the current Hotspot approach used by WFP. </a:t>
            </a:r>
            <a:endParaRPr sz="1200">
              <a:solidFill>
                <a:srgbClr val="595959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1200"/>
              <a:buChar char="●"/>
            </a:pPr>
            <a:r>
              <a:rPr lang="en-GB" sz="1200">
                <a:solidFill>
                  <a:srgbClr val="595959"/>
                </a:solidFill>
              </a:rPr>
              <a:t>Perform analysis to identify the most important features that influence the predictions for each machine learning model and their commonalities across machine learning models.</a:t>
            </a:r>
            <a:endParaRPr sz="500"/>
          </a:p>
        </p:txBody>
      </p:sp>
    </p:spTree>
    <p:extLst>
      <p:ext uri="{BB962C8B-B14F-4D97-AF65-F5344CB8AC3E}">
        <p14:creationId xmlns:p14="http://schemas.microsoft.com/office/powerpoint/2010/main" val="3325986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282207dee_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282207dee_5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672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26ca27fc85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26ca27fc85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6FDA-449B-8731-A86F-547AFCFED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CD367-3A36-006A-DBD1-4D73C39AC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6412F-46E7-C18A-74C7-CF07225E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A44FD-DE62-D983-0A96-04AE7AAC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95547-3C39-568A-8883-1D5EEE0F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69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1856-15CD-32F8-F8F4-B64E2F2C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85B5F-A2BF-ADF5-4353-6A0ED06CA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CCA3-95AB-BFEC-252E-DE079948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324BF-6E32-11F6-1DA5-3C868CAD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C816-92E7-A173-F4E1-21B2386B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104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90EB-EC37-EC2B-F906-9D4CD7DF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A1F98-C18A-B1A5-CF43-F37A4518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EF84-60FD-E2B9-2DCD-65C291FF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902B1-A59E-CBFB-1157-88ECAA2B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5586F-B469-13F7-8628-9274D81F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26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6A333-41CD-9189-F067-CA5F74CB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7422-152C-50A2-3997-59966FAE7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91CC9-664D-74EA-8332-0346654BC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A47F3-70E7-A960-D716-57C8D2ED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DDCE9-C54C-5143-9C5C-CD5642D4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F9B0C-4520-5DE1-6C2D-BAC57E84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01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4ACB-F49A-1E99-71C8-037EF50D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4AD40-5EBE-D49C-F03D-BFCCBED39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7A49F-99D0-931A-1E40-E805739E2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6131F-4F88-8C5B-786B-F7542B9BD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4559E-6874-C88B-E6D5-61B0899CC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9A7BB8-F436-280D-BC87-8B1A460C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FDF83-0492-4497-BA55-A99412083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AF90F-6548-5123-D99E-D579D544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69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13DC-B12A-A368-FC28-E99BD01A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CC7CA-0FB4-A93B-62EA-4E087F3E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898A3-BD8C-D011-31F1-B51DCABD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8E1DF-28F9-2879-B7BB-BE728F9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78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88F42-2083-19A3-91FA-468B44D9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5E8AC-F91D-BFD8-B045-FD8DCDC6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6A7AE-2394-F1F9-F0BC-76839598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47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230B-9AD0-046E-92B4-93B2F20D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5CFD-88B4-1179-EBF3-F8A15316E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852D-D421-E5B4-F601-A69467504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32DBA-3138-0AB4-C305-4C84F535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EB0C5-285D-A9C5-3528-CCC0D2D3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2D7F-7263-6983-95A1-2BE6D261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09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5ED9-00A8-9C1D-2F04-0685C676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AA060-D1EB-9B09-DC46-F6DE98F64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96FA2-B50B-E710-D9F0-62E1A5AA8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66DB7-828F-D27C-B293-79AC4D97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909E-2341-6155-B1D5-E5E359A8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87B34-3DA5-0D1F-3038-0C979672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0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1894-54C5-B724-0184-AC02EFF1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D7D50-1BE2-B23B-0C8A-77D6AB8E2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1803-48D4-02B1-05AA-A83E6E4A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EFF67-2A9F-8BFD-FEC1-53C2B59B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B5D90-52A1-003B-043C-E660493F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41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B2A93-5025-5C6C-9065-E43A0BBB7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79D59-E1BE-DC63-C29D-37CF4DD23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561E9-4BA8-6F10-55B2-4CF290DA2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D0F25-33F7-670C-C6DE-333C7718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A0FE4-FEC2-5317-394A-C74A8D74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198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98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E9E44-B8A1-F055-79A7-49C5B2D2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59905-7EEE-C6EE-A0C6-65B22AE1E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7D92F-6D4D-9078-50F5-BE4E0F03D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83FD2-3364-364F-AA57-1A785587E475}" type="datetimeFigureOut">
              <a:rPr lang="en-GB" smtClean="0"/>
              <a:t>18/04/2023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1B0CA-2A28-9FE0-0ECD-23835DD7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F5FB4-414B-4BB7-8C90-96F20347E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1ECA-640F-EE4E-B4D6-F66F8E66D1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81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5203933" y="941375"/>
            <a:ext cx="6776820" cy="255296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3200" dirty="0"/>
              <a:t>Novel Data Analytic Methods to Improve Burden Estimates for Wasting</a:t>
            </a:r>
            <a:endParaRPr sz="3200" dirty="0"/>
          </a:p>
        </p:txBody>
      </p:sp>
      <p:pic>
        <p:nvPicPr>
          <p:cNvPr id="2" name="Google Shape;56;p13">
            <a:extLst>
              <a:ext uri="{FF2B5EF4-FFF2-40B4-BE49-F238E27FC236}">
                <a16:creationId xmlns:a16="http://schemas.microsoft.com/office/drawing/2014/main" id="{63127216-20A1-B8F4-DE1A-0A2618C230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180" y="176677"/>
            <a:ext cx="864669" cy="8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7;p13">
            <a:extLst>
              <a:ext uri="{FF2B5EF4-FFF2-40B4-BE49-F238E27FC236}">
                <a16:creationId xmlns:a16="http://schemas.microsoft.com/office/drawing/2014/main" id="{A6783B42-5DCE-F7D1-ECFA-523390DEE0C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0395" y="197447"/>
            <a:ext cx="2243373" cy="96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New Logo and Identity for Northeastern University by Upstatement |  University, Identity logo, Learning logo">
            <a:extLst>
              <a:ext uri="{FF2B5EF4-FFF2-40B4-BE49-F238E27FC236}">
                <a16:creationId xmlns:a16="http://schemas.microsoft.com/office/drawing/2014/main" id="{6F7E1A2D-1A35-A9BF-4680-D8E92FA06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365" y="197447"/>
            <a:ext cx="2382271" cy="84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umber of children suffering from severe acute malnutrition across the Sahel  reaches 10-year high - Unicef UK">
            <a:extLst>
              <a:ext uri="{FF2B5EF4-FFF2-40B4-BE49-F238E27FC236}">
                <a16:creationId xmlns:a16="http://schemas.microsoft.com/office/drawing/2014/main" id="{76B97768-1115-2942-FA78-517D43D9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938" y="1480604"/>
            <a:ext cx="2584551" cy="17199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risis is brewing in the Sahel - Humanitarian Aid &amp; Relief">
            <a:extLst>
              <a:ext uri="{FF2B5EF4-FFF2-40B4-BE49-F238E27FC236}">
                <a16:creationId xmlns:a16="http://schemas.microsoft.com/office/drawing/2014/main" id="{CDF2BA04-7FE1-775A-D6B8-E49C1AD2B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77" y="2778672"/>
            <a:ext cx="3548752" cy="193780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ver 1.3 million children in Sahel region suffer from acute malnutrition –  UNICEF | CGTN Africa">
            <a:extLst>
              <a:ext uri="{FF2B5EF4-FFF2-40B4-BE49-F238E27FC236}">
                <a16:creationId xmlns:a16="http://schemas.microsoft.com/office/drawing/2014/main" id="{53BB74A6-C428-5757-B821-ABF89DD25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582" y="4178129"/>
            <a:ext cx="2648597" cy="18014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 warns of severe malnutrition in Horn of Africa, Sahel amid drought-Xinhua">
            <a:extLst>
              <a:ext uri="{FF2B5EF4-FFF2-40B4-BE49-F238E27FC236}">
                <a16:creationId xmlns:a16="http://schemas.microsoft.com/office/drawing/2014/main" id="{7E71FA14-866A-4B84-97E3-9707C586B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49" y="2042486"/>
            <a:ext cx="2369689" cy="15569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59;p13">
            <a:extLst>
              <a:ext uri="{FF2B5EF4-FFF2-40B4-BE49-F238E27FC236}">
                <a16:creationId xmlns:a16="http://schemas.microsoft.com/office/drawing/2014/main" id="{31477DB3-DBCC-4838-5BB7-CB222236F12D}"/>
              </a:ext>
            </a:extLst>
          </p:cNvPr>
          <p:cNvSpPr txBox="1"/>
          <p:nvPr/>
        </p:nvSpPr>
        <p:spPr>
          <a:xfrm>
            <a:off x="6941319" y="3724097"/>
            <a:ext cx="3548752" cy="139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600" dirty="0" err="1"/>
              <a:t>Mayukh</a:t>
            </a:r>
            <a:r>
              <a:rPr lang="en-GB" sz="1600" dirty="0"/>
              <a:t> Ghosh and </a:t>
            </a:r>
            <a:r>
              <a:rPr lang="en-GB" sz="1600" b="1" dirty="0"/>
              <a:t>Chintan Amrit</a:t>
            </a:r>
          </a:p>
          <a:p>
            <a:pPr algn="ctr"/>
            <a:endParaRPr lang="en-GB" sz="1467" dirty="0"/>
          </a:p>
          <a:p>
            <a:pPr algn="ctr"/>
            <a:endParaRPr lang="en-GB" sz="1467" i="1" dirty="0"/>
          </a:p>
          <a:p>
            <a:pPr algn="ctr"/>
            <a:r>
              <a:rPr lang="en-GB" sz="1467" i="1" dirty="0"/>
              <a:t>University of Amsterdam</a:t>
            </a:r>
          </a:p>
          <a:p>
            <a:pPr algn="ctr"/>
            <a:endParaRPr lang="en-GB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415600" y="404583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en-GB" sz="2667" b="1" dirty="0"/>
              <a:t>Introduction</a:t>
            </a:r>
            <a:endParaRPr sz="2400" b="1" dirty="0"/>
          </a:p>
        </p:txBody>
      </p:sp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00375940-5D89-EE0C-DD73-9E4263CC6024}"/>
              </a:ext>
            </a:extLst>
          </p:cNvPr>
          <p:cNvSpPr/>
          <p:nvPr/>
        </p:nvSpPr>
        <p:spPr>
          <a:xfrm>
            <a:off x="1126995" y="1300203"/>
            <a:ext cx="6527731" cy="176614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sz="2000" dirty="0"/>
              <a:t>Wasting (an acute form of malnutrition)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Increases a child’s risk of infection and death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In the absence of incidence data, the single incidence correction factor uses to estimate the burden</a:t>
            </a:r>
          </a:p>
          <a:p>
            <a:r>
              <a:rPr lang="en-US" sz="2000" dirty="0"/>
              <a:t> </a:t>
            </a:r>
            <a:r>
              <a:rPr lang="en-US" sz="2000" i="1" dirty="0"/>
              <a:t>(</a:t>
            </a:r>
            <a:r>
              <a:rPr lang="en-US" sz="2000" i="1" dirty="0" err="1"/>
              <a:t>Isanaka</a:t>
            </a:r>
            <a:r>
              <a:rPr lang="en-US" sz="2000" i="1" dirty="0"/>
              <a:t> et al., 2021)</a:t>
            </a:r>
            <a:endParaRPr lang="en-US" sz="2000" dirty="0"/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1A74B24B-7EC5-5642-7F62-2219FE25A4C0}"/>
              </a:ext>
            </a:extLst>
          </p:cNvPr>
          <p:cNvSpPr/>
          <p:nvPr/>
        </p:nvSpPr>
        <p:spPr>
          <a:xfrm>
            <a:off x="1126994" y="4874023"/>
            <a:ext cx="6527732" cy="1480043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584185" indent="-380990">
              <a:lnSpc>
                <a:spcPct val="115000"/>
              </a:lnSpc>
              <a:buClr>
                <a:srgbClr val="595959"/>
              </a:buClr>
              <a:buSzPts val="1200"/>
              <a:buFont typeface="Wingdings" panose="05000000000000000000" pitchFamily="2" charset="2"/>
              <a:buChar char="ü"/>
            </a:pPr>
            <a:r>
              <a:rPr lang="en-US" sz="2000" dirty="0"/>
              <a:t>Research needs to identify the critical features associated with wasting in the Sahel region among children aged 6-59 months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ED10EB-3D48-198D-8266-D69B2F251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4472" y="1656083"/>
            <a:ext cx="3863033" cy="35458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494909-895F-BA96-7E64-756B68913ABB}"/>
              </a:ext>
            </a:extLst>
          </p:cNvPr>
          <p:cNvSpPr txBox="1"/>
          <p:nvPr/>
        </p:nvSpPr>
        <p:spPr>
          <a:xfrm>
            <a:off x="8063697" y="5142120"/>
            <a:ext cx="3863033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7" dirty="0">
                <a:solidFill>
                  <a:srgbClr val="222222"/>
                </a:solidFill>
                <a:latin typeface="Arial" panose="020B0604020202020204" pitchFamily="34" charset="0"/>
              </a:rPr>
              <a:t>"The persistent global burden of severe acute malnutrition: cross-country estimates, models and forecasts." (2020)</a:t>
            </a:r>
            <a:endParaRPr lang="en-US" sz="1067" dirty="0"/>
          </a:p>
        </p:txBody>
      </p:sp>
      <p:sp>
        <p:nvSpPr>
          <p:cNvPr id="16" name="Google Shape;65;p14">
            <a:extLst>
              <a:ext uri="{FF2B5EF4-FFF2-40B4-BE49-F238E27FC236}">
                <a16:creationId xmlns:a16="http://schemas.microsoft.com/office/drawing/2014/main" id="{6FA1F3FE-2D47-DDD6-6325-7F9316C78B49}"/>
              </a:ext>
            </a:extLst>
          </p:cNvPr>
          <p:cNvSpPr/>
          <p:nvPr/>
        </p:nvSpPr>
        <p:spPr>
          <a:xfrm>
            <a:off x="1136669" y="3268005"/>
            <a:ext cx="6527731" cy="1480043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Most of the studies focus on estimating severe wasting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/>
              <a:t>Only a few studies explore features that affect it</a:t>
            </a:r>
          </a:p>
          <a:p>
            <a:pPr lvl="0"/>
            <a:r>
              <a:rPr lang="en-US" sz="2000" i="1" dirty="0"/>
              <a:t>(Bulti et al., 2017; Barba, et al. 2020)</a:t>
            </a:r>
          </a:p>
        </p:txBody>
      </p:sp>
    </p:spTree>
    <p:extLst>
      <p:ext uri="{BB962C8B-B14F-4D97-AF65-F5344CB8AC3E}">
        <p14:creationId xmlns:p14="http://schemas.microsoft.com/office/powerpoint/2010/main" val="2678853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415600" y="562501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en-GB" sz="2667" b="1" dirty="0"/>
              <a:t>Objectives</a:t>
            </a:r>
            <a:endParaRPr sz="2400" b="1" dirty="0"/>
          </a:p>
        </p:txBody>
      </p:sp>
      <p:sp>
        <p:nvSpPr>
          <p:cNvPr id="65" name="Google Shape;65;p14"/>
          <p:cNvSpPr/>
          <p:nvPr/>
        </p:nvSpPr>
        <p:spPr>
          <a:xfrm>
            <a:off x="1508923" y="2603767"/>
            <a:ext cx="9281788" cy="63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2400" dirty="0"/>
              <a:t>Develop Machine Learning (ML) models to predict burden of wasting </a:t>
            </a:r>
            <a:endParaRPr sz="2400" dirty="0"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l="19620" t="23023" r="22019" b="27024"/>
          <a:stretch/>
        </p:blipFill>
        <p:spPr>
          <a:xfrm>
            <a:off x="703409" y="2606854"/>
            <a:ext cx="592956" cy="7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00375940-5D89-EE0C-DD73-9E4263CC6024}"/>
              </a:ext>
            </a:extLst>
          </p:cNvPr>
          <p:cNvSpPr/>
          <p:nvPr/>
        </p:nvSpPr>
        <p:spPr>
          <a:xfrm>
            <a:off x="1527707" y="1843905"/>
            <a:ext cx="9281788" cy="63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sz="2400" dirty="0"/>
              <a:t>Analysis of the current Hotspot analysis model used </a:t>
            </a:r>
            <a:r>
              <a:rPr lang="en-GB" sz="2400" dirty="0"/>
              <a:t>by RBD*</a:t>
            </a:r>
            <a:r>
              <a:rPr lang="en-US" sz="2400" dirty="0"/>
              <a:t> to estimate the burden</a:t>
            </a:r>
            <a:endParaRPr sz="2400" dirty="0"/>
          </a:p>
        </p:txBody>
      </p:sp>
      <p:pic>
        <p:nvPicPr>
          <p:cNvPr id="6" name="Google Shape;68;p14">
            <a:extLst>
              <a:ext uri="{FF2B5EF4-FFF2-40B4-BE49-F238E27FC236}">
                <a16:creationId xmlns:a16="http://schemas.microsoft.com/office/drawing/2014/main" id="{980862B6-FC12-3258-90CD-8DD9ACE9F0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20" t="23023" r="22019" b="27024"/>
          <a:stretch/>
        </p:blipFill>
        <p:spPr>
          <a:xfrm>
            <a:off x="722193" y="1968053"/>
            <a:ext cx="574172" cy="63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079587-FD75-6358-D708-2BA6A3DA2CD0}"/>
              </a:ext>
            </a:extLst>
          </p:cNvPr>
          <p:cNvSpPr txBox="1"/>
          <p:nvPr/>
        </p:nvSpPr>
        <p:spPr>
          <a:xfrm>
            <a:off x="841093" y="622964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* Regional Bureau of Dakar (RBD)</a:t>
            </a:r>
            <a:endParaRPr lang="en-US" sz="1600" dirty="0"/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4C84E1B2-C5DF-C1A9-665A-7A824C88975A}"/>
              </a:ext>
            </a:extLst>
          </p:cNvPr>
          <p:cNvSpPr/>
          <p:nvPr/>
        </p:nvSpPr>
        <p:spPr>
          <a:xfrm>
            <a:off x="1508922" y="3384904"/>
            <a:ext cx="9281788" cy="63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2400" dirty="0"/>
              <a:t>Identify important features that influence burden of wasting</a:t>
            </a:r>
            <a:endParaRPr sz="2400" dirty="0"/>
          </a:p>
        </p:txBody>
      </p:sp>
      <p:pic>
        <p:nvPicPr>
          <p:cNvPr id="3" name="Google Shape;69;p14">
            <a:extLst>
              <a:ext uri="{FF2B5EF4-FFF2-40B4-BE49-F238E27FC236}">
                <a16:creationId xmlns:a16="http://schemas.microsoft.com/office/drawing/2014/main" id="{0C43A655-408F-D3F1-F841-CCFAFF0908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20" t="23023" r="22019" b="27024"/>
          <a:stretch/>
        </p:blipFill>
        <p:spPr>
          <a:xfrm>
            <a:off x="668210" y="3311591"/>
            <a:ext cx="592956" cy="73684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7;p14">
            <a:extLst>
              <a:ext uri="{FF2B5EF4-FFF2-40B4-BE49-F238E27FC236}">
                <a16:creationId xmlns:a16="http://schemas.microsoft.com/office/drawing/2014/main" id="{046DD224-FFCA-05D5-CA89-A0F5860FFE0B}"/>
              </a:ext>
            </a:extLst>
          </p:cNvPr>
          <p:cNvSpPr/>
          <p:nvPr/>
        </p:nvSpPr>
        <p:spPr>
          <a:xfrm>
            <a:off x="1508923" y="4200832"/>
            <a:ext cx="9281787" cy="63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2400" dirty="0"/>
              <a:t>Compare different ML models and current Hotspot analysis approach</a:t>
            </a:r>
            <a:endParaRPr sz="2400" dirty="0"/>
          </a:p>
        </p:txBody>
      </p:sp>
      <p:pic>
        <p:nvPicPr>
          <p:cNvPr id="7" name="Google Shape;69;p14">
            <a:extLst>
              <a:ext uri="{FF2B5EF4-FFF2-40B4-BE49-F238E27FC236}">
                <a16:creationId xmlns:a16="http://schemas.microsoft.com/office/drawing/2014/main" id="{0F77B6BA-547F-FBD1-533C-79526BC796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20" t="23023" r="22019" b="27024"/>
          <a:stretch/>
        </p:blipFill>
        <p:spPr>
          <a:xfrm>
            <a:off x="722193" y="4078656"/>
            <a:ext cx="592956" cy="736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20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" grpId="0" animBg="1"/>
      <p:bldP spid="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15600" y="222391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en-GB" sz="2667" b="1" dirty="0"/>
              <a:t>Data Sources</a:t>
            </a:r>
            <a:endParaRPr sz="2667" b="1"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834373" y="5283216"/>
            <a:ext cx="10789555" cy="7386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600" dirty="0"/>
              <a:t>Hotspot analysis data for 2022 uses information on relevant features for 2021. For Nutrition Survey and INFORM Sahel data sources, data from 2019-2021 used for creating the final dataset</a:t>
            </a:r>
            <a:endParaRPr sz="1600" dirty="0"/>
          </a:p>
        </p:txBody>
      </p:sp>
      <p:sp>
        <p:nvSpPr>
          <p:cNvPr id="77" name="Google Shape;77;p15"/>
          <p:cNvSpPr/>
          <p:nvPr/>
        </p:nvSpPr>
        <p:spPr>
          <a:xfrm>
            <a:off x="5183293" y="1586668"/>
            <a:ext cx="749200" cy="43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8" name="Google Shape;78;p15"/>
          <p:cNvSpPr/>
          <p:nvPr/>
        </p:nvSpPr>
        <p:spPr>
          <a:xfrm>
            <a:off x="1123240" y="1485868"/>
            <a:ext cx="3685152" cy="73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 b="1" dirty="0"/>
              <a:t>Hotspot Analysis Data</a:t>
            </a:r>
            <a:endParaRPr sz="2400" b="1" dirty="0"/>
          </a:p>
        </p:txBody>
      </p:sp>
      <p:sp>
        <p:nvSpPr>
          <p:cNvPr id="79" name="Google Shape;79;p15"/>
          <p:cNvSpPr/>
          <p:nvPr/>
        </p:nvSpPr>
        <p:spPr>
          <a:xfrm>
            <a:off x="1123240" y="2753855"/>
            <a:ext cx="3685152" cy="74519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 b="1"/>
              <a:t>Nutrition Survey Data</a:t>
            </a:r>
            <a:endParaRPr sz="2400" b="1"/>
          </a:p>
        </p:txBody>
      </p:sp>
      <p:sp>
        <p:nvSpPr>
          <p:cNvPr id="80" name="Google Shape;80;p15"/>
          <p:cNvSpPr/>
          <p:nvPr/>
        </p:nvSpPr>
        <p:spPr>
          <a:xfrm>
            <a:off x="1123239" y="4180839"/>
            <a:ext cx="3685151" cy="69456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 b="1" dirty="0"/>
              <a:t>INFORM Sahel*</a:t>
            </a:r>
            <a:endParaRPr sz="2400" b="1" dirty="0"/>
          </a:p>
        </p:txBody>
      </p:sp>
      <p:sp>
        <p:nvSpPr>
          <p:cNvPr id="81" name="Google Shape;81;p15"/>
          <p:cNvSpPr txBox="1"/>
          <p:nvPr/>
        </p:nvSpPr>
        <p:spPr>
          <a:xfrm>
            <a:off x="529773" y="1538468"/>
            <a:ext cx="6092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133" b="1" dirty="0"/>
              <a:t>1.</a:t>
            </a:r>
            <a:endParaRPr sz="2133" b="1" dirty="0"/>
          </a:p>
        </p:txBody>
      </p:sp>
      <p:sp>
        <p:nvSpPr>
          <p:cNvPr id="82" name="Google Shape;82;p15"/>
          <p:cNvSpPr txBox="1"/>
          <p:nvPr/>
        </p:nvSpPr>
        <p:spPr>
          <a:xfrm>
            <a:off x="529773" y="2912852"/>
            <a:ext cx="6092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133" b="1"/>
              <a:t>2.</a:t>
            </a:r>
            <a:endParaRPr sz="2133" b="1"/>
          </a:p>
        </p:txBody>
      </p:sp>
      <p:sp>
        <p:nvSpPr>
          <p:cNvPr id="83" name="Google Shape;83;p15"/>
          <p:cNvSpPr txBox="1"/>
          <p:nvPr/>
        </p:nvSpPr>
        <p:spPr>
          <a:xfrm>
            <a:off x="529773" y="4289201"/>
            <a:ext cx="6092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133" b="1"/>
              <a:t>3.</a:t>
            </a:r>
            <a:endParaRPr sz="2133" b="1"/>
          </a:p>
        </p:txBody>
      </p:sp>
      <p:sp>
        <p:nvSpPr>
          <p:cNvPr id="84" name="Google Shape;84;p15"/>
          <p:cNvSpPr/>
          <p:nvPr/>
        </p:nvSpPr>
        <p:spPr>
          <a:xfrm>
            <a:off x="5183293" y="2961052"/>
            <a:ext cx="749200" cy="43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5" name="Google Shape;85;p15"/>
          <p:cNvSpPr/>
          <p:nvPr/>
        </p:nvSpPr>
        <p:spPr>
          <a:xfrm>
            <a:off x="5183293" y="4337401"/>
            <a:ext cx="749200" cy="43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6" name="Google Shape;86;p15"/>
          <p:cNvSpPr/>
          <p:nvPr/>
        </p:nvSpPr>
        <p:spPr>
          <a:xfrm>
            <a:off x="6019097" y="748631"/>
            <a:ext cx="1780400" cy="437200"/>
          </a:xfrm>
          <a:prstGeom prst="rect">
            <a:avLst/>
          </a:prstGeom>
          <a:solidFill>
            <a:srgbClr val="DDEBF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1733" dirty="0"/>
              <a:t>Years Available </a:t>
            </a:r>
            <a:endParaRPr sz="1733" dirty="0"/>
          </a:p>
        </p:txBody>
      </p:sp>
      <p:sp>
        <p:nvSpPr>
          <p:cNvPr id="87" name="Google Shape;87;p15"/>
          <p:cNvSpPr/>
          <p:nvPr/>
        </p:nvSpPr>
        <p:spPr>
          <a:xfrm>
            <a:off x="8320236" y="748631"/>
            <a:ext cx="1947600" cy="437200"/>
          </a:xfrm>
          <a:prstGeom prst="rect">
            <a:avLst/>
          </a:prstGeom>
          <a:solidFill>
            <a:srgbClr val="DDEBF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1733" dirty="0"/>
              <a:t>Information Level</a:t>
            </a:r>
            <a:endParaRPr sz="1733" dirty="0"/>
          </a:p>
        </p:txBody>
      </p:sp>
      <p:sp>
        <p:nvSpPr>
          <p:cNvPr id="88" name="Google Shape;88;p15"/>
          <p:cNvSpPr txBox="1"/>
          <p:nvPr/>
        </p:nvSpPr>
        <p:spPr>
          <a:xfrm>
            <a:off x="6168497" y="1485869"/>
            <a:ext cx="1481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/>
              <a:t>2020-2022</a:t>
            </a:r>
            <a:endParaRPr sz="2400"/>
          </a:p>
        </p:txBody>
      </p:sp>
      <p:sp>
        <p:nvSpPr>
          <p:cNvPr id="89" name="Google Shape;89;p15"/>
          <p:cNvSpPr txBox="1"/>
          <p:nvPr/>
        </p:nvSpPr>
        <p:spPr>
          <a:xfrm>
            <a:off x="6168497" y="2860253"/>
            <a:ext cx="1481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/>
              <a:t>2012-2021</a:t>
            </a:r>
            <a:endParaRPr sz="2400"/>
          </a:p>
        </p:txBody>
      </p:sp>
      <p:sp>
        <p:nvSpPr>
          <p:cNvPr id="90" name="Google Shape;90;p15"/>
          <p:cNvSpPr txBox="1"/>
          <p:nvPr/>
        </p:nvSpPr>
        <p:spPr>
          <a:xfrm>
            <a:off x="6168497" y="4236602"/>
            <a:ext cx="1481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/>
              <a:t>2015-2021</a:t>
            </a:r>
            <a:endParaRPr sz="2400"/>
          </a:p>
        </p:txBody>
      </p:sp>
      <p:sp>
        <p:nvSpPr>
          <p:cNvPr id="91" name="Google Shape;91;p15"/>
          <p:cNvSpPr txBox="1"/>
          <p:nvPr/>
        </p:nvSpPr>
        <p:spPr>
          <a:xfrm>
            <a:off x="8024999" y="1474596"/>
            <a:ext cx="275415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/>
              <a:t>Administrative 2 Level</a:t>
            </a:r>
            <a:endParaRPr sz="2400" dirty="0"/>
          </a:p>
        </p:txBody>
      </p:sp>
      <p:sp>
        <p:nvSpPr>
          <p:cNvPr id="2" name="Google Shape;91;p15">
            <a:extLst>
              <a:ext uri="{FF2B5EF4-FFF2-40B4-BE49-F238E27FC236}">
                <a16:creationId xmlns:a16="http://schemas.microsoft.com/office/drawing/2014/main" id="{83B38780-A327-1DF1-DAFB-C9E4B672C44A}"/>
              </a:ext>
            </a:extLst>
          </p:cNvPr>
          <p:cNvSpPr txBox="1"/>
          <p:nvPr/>
        </p:nvSpPr>
        <p:spPr>
          <a:xfrm>
            <a:off x="8024998" y="2779086"/>
            <a:ext cx="275415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/>
              <a:t>Administrative 2 Level</a:t>
            </a:r>
            <a:endParaRPr sz="2400" dirty="0"/>
          </a:p>
        </p:txBody>
      </p:sp>
      <p:sp>
        <p:nvSpPr>
          <p:cNvPr id="3" name="Google Shape;91;p15">
            <a:extLst>
              <a:ext uri="{FF2B5EF4-FFF2-40B4-BE49-F238E27FC236}">
                <a16:creationId xmlns:a16="http://schemas.microsoft.com/office/drawing/2014/main" id="{19B42109-4CCD-8AA3-27F1-E39F0F4C6187}"/>
              </a:ext>
            </a:extLst>
          </p:cNvPr>
          <p:cNvSpPr txBox="1"/>
          <p:nvPr/>
        </p:nvSpPr>
        <p:spPr>
          <a:xfrm>
            <a:off x="8024997" y="4229926"/>
            <a:ext cx="275415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/>
              <a:t>Administrative 2 Level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0C3D2-72A1-9218-01EB-D5A00DD4FB66}"/>
              </a:ext>
            </a:extLst>
          </p:cNvPr>
          <p:cNvSpPr txBox="1"/>
          <p:nvPr/>
        </p:nvSpPr>
        <p:spPr>
          <a:xfrm>
            <a:off x="3999721" y="1893423"/>
            <a:ext cx="769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accent3">
                    <a:lumMod val="75000"/>
                  </a:schemeClr>
                </a:solidFill>
              </a:rPr>
              <a:t>Private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D55D2-28FD-1C6D-EE9B-A95C0A820A50}"/>
              </a:ext>
            </a:extLst>
          </p:cNvPr>
          <p:cNvSpPr txBox="1"/>
          <p:nvPr/>
        </p:nvSpPr>
        <p:spPr>
          <a:xfrm>
            <a:off x="3999722" y="3170187"/>
            <a:ext cx="769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accent3">
                    <a:lumMod val="75000"/>
                  </a:schemeClr>
                </a:solidFill>
              </a:rPr>
              <a:t>Private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E8889-A6CB-BA63-58EF-BF399527974B}"/>
              </a:ext>
            </a:extLst>
          </p:cNvPr>
          <p:cNvSpPr txBox="1"/>
          <p:nvPr/>
        </p:nvSpPr>
        <p:spPr>
          <a:xfrm>
            <a:off x="4077351" y="4556002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accent3">
                    <a:lumMod val="75000"/>
                  </a:schemeClr>
                </a:solidFill>
              </a:rPr>
              <a:t>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67168-F5AB-B730-3C20-EEB39C4024B9}"/>
              </a:ext>
            </a:extLst>
          </p:cNvPr>
          <p:cNvSpPr txBox="1"/>
          <p:nvPr/>
        </p:nvSpPr>
        <p:spPr>
          <a:xfrm>
            <a:off x="834373" y="6156541"/>
            <a:ext cx="6573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* https://data.humdata.org/dataset/the-regional-inform-sahel-model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7CA4-9045-AC9A-DA78-4598FB52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33864"/>
          </a:xfrm>
        </p:spPr>
        <p:txBody>
          <a:bodyPr>
            <a:normAutofit/>
          </a:bodyPr>
          <a:lstStyle/>
          <a:p>
            <a:r>
              <a:rPr lang="en-US" sz="2667" b="1" dirty="0"/>
              <a:t>A glance at Features Categories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D1BA6-E82E-5F75-A381-485BBE6BF459}"/>
              </a:ext>
            </a:extLst>
          </p:cNvPr>
          <p:cNvSpPr/>
          <p:nvPr/>
        </p:nvSpPr>
        <p:spPr>
          <a:xfrm>
            <a:off x="783771" y="1635276"/>
            <a:ext cx="10382552" cy="37253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80990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Demographic Data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: </a:t>
            </a:r>
            <a:r>
              <a:rPr lang="en-US" sz="1600" dirty="0">
                <a:solidFill>
                  <a:srgbClr val="333333"/>
                </a:solidFill>
                <a:latin typeface="+mj-lt"/>
              </a:rPr>
              <a:t>`Total Population', `Population 6 to 59 months'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  <a:p>
            <a:pPr marL="380990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Nutrition Data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+mj-lt"/>
              </a:rPr>
              <a:t> ‘SAM/MAM/GAM incidence correction factor’, ‘SAM/MAM/GAM prevalence’,  ‘MAM 6-59 months Prevalence’, ‘GAM rate enfants U5’, ‘Stunting rate U5’, ‘SAM U5 rate’, ‘GAM Rate FEFA’, ‘SAM/MAM/GAM burden’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  <a:p>
            <a:pPr marL="380990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Deterioration Data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: </a:t>
            </a:r>
            <a:r>
              <a:rPr lang="en-US" sz="1600" dirty="0">
                <a:solidFill>
                  <a:srgbClr val="333333"/>
                </a:solidFill>
                <a:latin typeface="+mj-lt"/>
              </a:rPr>
              <a:t>`</a:t>
            </a:r>
            <a:r>
              <a:rPr lang="en-US" sz="1600" dirty="0" err="1">
                <a:solidFill>
                  <a:srgbClr val="333333"/>
                </a:solidFill>
                <a:latin typeface="+mj-lt"/>
              </a:rPr>
              <a:t>Diarrhee</a:t>
            </a:r>
            <a:r>
              <a:rPr lang="en-US" sz="1600" dirty="0">
                <a:solidFill>
                  <a:srgbClr val="333333"/>
                </a:solidFill>
                <a:latin typeface="+mj-lt"/>
              </a:rPr>
              <a:t>', `Malaria fever', `VITA', `Deworming', `Measles', `ARI Cough', `Access to health structures', `Access to sanitary facilities', `Access to drinking water not accessible', `CH-Ph 3-5', `IDPs', `Food Insecurity', `Food diversity not reached', `Frequency of meals number of meals not reached'.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  <a:p>
            <a:pPr marL="380990" indent="-38099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INFORM Data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+mj-lt"/>
              </a:rPr>
              <a:t> 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   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 </a:t>
            </a:r>
            <a:r>
              <a:rPr lang="en-US" sz="1600" i="1" u="sng" dirty="0">
                <a:solidFill>
                  <a:srgbClr val="333333"/>
                </a:solidFill>
                <a:latin typeface="+mj-lt"/>
              </a:rPr>
              <a:t>INFORM Sahel - Hazard and Exposure Features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  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  </a:t>
            </a:r>
            <a:r>
              <a:rPr lang="en-US" sz="1600" i="1" u="sng" dirty="0">
                <a:solidFill>
                  <a:srgbClr val="333333"/>
                </a:solidFill>
                <a:latin typeface="+mj-lt"/>
              </a:rPr>
              <a:t>INFORM Sahel - Vulnerability Features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+mj-lt"/>
              </a:rPr>
              <a:t>   </a:t>
            </a:r>
            <a:r>
              <a:rPr lang="en-US" sz="1600" i="1" dirty="0">
                <a:solidFill>
                  <a:srgbClr val="333333"/>
                </a:solidFill>
                <a:latin typeface="+mj-lt"/>
              </a:rPr>
              <a:t> </a:t>
            </a:r>
            <a:r>
              <a:rPr lang="en-US" sz="1600" i="1" u="sng" dirty="0">
                <a:solidFill>
                  <a:srgbClr val="333333"/>
                </a:solidFill>
                <a:latin typeface="+mj-lt"/>
              </a:rPr>
              <a:t>INFORM Sahel - Lack of Coping Capacity Component Features</a:t>
            </a:r>
            <a:endParaRPr lang="en-US" sz="1600" b="1" dirty="0">
              <a:solidFill>
                <a:srgbClr val="3333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446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1348" y="915210"/>
            <a:ext cx="10101944" cy="570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en-GB" sz="2400" b="1" dirty="0"/>
              <a:t>Geographical Distribution of Burden (Hotspot Analysis)</a:t>
            </a:r>
            <a:endParaRPr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4CA22-FE49-9116-333C-420F13052EE9}"/>
              </a:ext>
            </a:extLst>
          </p:cNvPr>
          <p:cNvSpPr txBox="1"/>
          <p:nvPr/>
        </p:nvSpPr>
        <p:spPr>
          <a:xfrm>
            <a:off x="4729735" y="397037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2020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9716C-1C3A-3B50-99C5-16AED8B6CE84}"/>
              </a:ext>
            </a:extLst>
          </p:cNvPr>
          <p:cNvSpPr txBox="1"/>
          <p:nvPr/>
        </p:nvSpPr>
        <p:spPr>
          <a:xfrm>
            <a:off x="9732543" y="987261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2021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75D66-A93C-C42F-188C-35B1CCC1B9F4}"/>
              </a:ext>
            </a:extLst>
          </p:cNvPr>
          <p:cNvSpPr txBox="1"/>
          <p:nvPr/>
        </p:nvSpPr>
        <p:spPr>
          <a:xfrm>
            <a:off x="9732543" y="3997317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2022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C162-97FB-CB21-FD59-E001F270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Your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197F-93C0-8F13-0735-0DF72F8C5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must produce a brief report including:</a:t>
            </a:r>
          </a:p>
          <a:p>
            <a:pPr lvl="1"/>
            <a:r>
              <a:rPr lang="en-GB" dirty="0"/>
              <a:t>a clear and concise statement of your substantive findings</a:t>
            </a:r>
          </a:p>
          <a:p>
            <a:pPr lvl="1"/>
            <a:r>
              <a:rPr lang="en-GB" dirty="0"/>
              <a:t>a discussion and motivation of the steps towards your final specification</a:t>
            </a:r>
          </a:p>
          <a:p>
            <a:pPr lvl="1"/>
            <a:r>
              <a:rPr lang="en-GB" dirty="0"/>
              <a:t>an assessment of your predictive model with specifics about choice of model, evaluation metric, validation strategy and identification of factors affecting child malnutrition</a:t>
            </a:r>
          </a:p>
          <a:p>
            <a:pPr lvl="1"/>
            <a:r>
              <a:rPr lang="en-GB" dirty="0"/>
              <a:t>a concluding section in which you discuss the implications of your findings.</a:t>
            </a:r>
          </a:p>
          <a:p>
            <a:pPr lvl="1"/>
            <a:endParaRPr lang="en-GB" dirty="0"/>
          </a:p>
          <a:p>
            <a:r>
              <a:rPr lang="en-GB" dirty="0"/>
              <a:t>You must also create a presentation that contains the gist </a:t>
            </a:r>
            <a:r>
              <a:rPr lang="en-GB"/>
              <a:t>of the above.</a:t>
            </a:r>
          </a:p>
        </p:txBody>
      </p:sp>
    </p:spTree>
    <p:extLst>
      <p:ext uri="{BB962C8B-B14F-4D97-AF65-F5344CB8AC3E}">
        <p14:creationId xmlns:p14="http://schemas.microsoft.com/office/powerpoint/2010/main" val="167864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688</Words>
  <Application>Microsoft Macintosh PowerPoint</Application>
  <PresentationFormat>Widescreen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Novel Data Analytic Methods to Improve Burden Estimates for Wasting</vt:lpstr>
      <vt:lpstr>Introduction</vt:lpstr>
      <vt:lpstr>Objectives</vt:lpstr>
      <vt:lpstr>Data Sources</vt:lpstr>
      <vt:lpstr>A glance at Features Categories</vt:lpstr>
      <vt:lpstr>Geographical Distribution of Burden (Hotspot Analysis)</vt:lpstr>
      <vt:lpstr>Your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Novel Data Analytic Methods to Improve Burden Estimates for Wasting</dc:title>
  <dc:creator>Chintan Amrit</dc:creator>
  <cp:lastModifiedBy>Chintan Amrit</cp:lastModifiedBy>
  <cp:revision>1</cp:revision>
  <dcterms:created xsi:type="dcterms:W3CDTF">2023-04-18T19:33:56Z</dcterms:created>
  <dcterms:modified xsi:type="dcterms:W3CDTF">2023-04-18T20:04:30Z</dcterms:modified>
</cp:coreProperties>
</file>